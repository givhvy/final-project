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3366"/>
                </a:solidFill>
              </a:defRPr>
            </a:pPr>
            <a:r>
              <a:t>UNILEARN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336699"/>
                </a:solidFill>
              </a:defRPr>
            </a:pPr>
            <a:r>
              <a:t>A Comprehensive Web-Based E-Learning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66666"/>
                </a:solidFill>
              </a:defRPr>
            </a:pPr>
            <a:r>
              <a:t>[Your Full Name]</a:t>
            </a:r>
          </a:p>
          <a:p>
            <a:pPr algn="ctr">
              <a:defRPr sz="1600">
                <a:solidFill>
                  <a:srgbClr val="666666"/>
                </a:solidFill>
              </a:defRPr>
            </a:pPr>
            <a:r>
              <a:t>Student ID: [Your Student ID]</a:t>
            </a:r>
          </a:p>
          <a:p>
            <a:pPr algn="ctr">
              <a:defRPr sz="1600">
                <a:solidFill>
                  <a:srgbClr val="666666"/>
                </a:solidFill>
              </a:defRPr>
            </a:pPr>
            <a:r>
              <a:t>BSc (Hons) Computer Science</a:t>
            </a:r>
          </a:p>
          <a:p>
            <a:pPr algn="ctr">
              <a:defRPr sz="1600">
                <a:solidFill>
                  <a:srgbClr val="666666"/>
                </a:solidFill>
              </a:defRPr>
            </a:pPr>
            <a:r>
              <a:t>University of Greenwich</a:t>
            </a:r>
          </a:p>
          <a:p>
            <a:pPr algn="ctr">
              <a:defRPr sz="1600">
                <a:solidFill>
                  <a:srgbClr val="666666"/>
                </a:solidFill>
              </a:defRPr>
            </a:pPr>
            <a:r>
              <a:t>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Presentation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200"/>
              </a:spcBef>
              <a:defRPr sz="2000">
                <a:solidFill>
                  <a:srgbClr val="666666"/>
                </a:solidFill>
              </a:defRPr>
            </a:pPr>
            <a:r>
              <a:t>1. Project Overview &amp; Problem Statement (2 min)</a:t>
            </a:r>
          </a:p>
          <a:p>
            <a:pPr>
              <a:spcBef>
                <a:spcPts val="1200"/>
              </a:spcBef>
              <a:defRPr sz="2000">
                <a:solidFill>
                  <a:srgbClr val="666666"/>
                </a:solidFill>
              </a:defRPr>
            </a:pPr>
            <a:r>
              <a:t>2. System Architecture &amp; Technology Stack (3 min)</a:t>
            </a:r>
          </a:p>
          <a:p>
            <a:pPr>
              <a:spcBef>
                <a:spcPts val="1200"/>
              </a:spcBef>
              <a:defRPr sz="2000">
                <a:solidFill>
                  <a:srgbClr val="666666"/>
                </a:solidFill>
              </a:defRPr>
            </a:pPr>
            <a:r>
              <a:t>3. Key Features Implementation (3 min)</a:t>
            </a:r>
          </a:p>
          <a:p>
            <a:pPr>
              <a:spcBef>
                <a:spcPts val="1200"/>
              </a:spcBef>
              <a:defRPr sz="2000">
                <a:solidFill>
                  <a:srgbClr val="666666"/>
                </a:solidFill>
              </a:defRPr>
            </a:pPr>
            <a:r>
              <a:t>4. Live Demo - Core Functionalities (6 min)</a:t>
            </a:r>
          </a:p>
          <a:p>
            <a:pPr>
              <a:spcBef>
                <a:spcPts val="1200"/>
              </a:spcBef>
              <a:defRPr sz="2000">
                <a:solidFill>
                  <a:srgbClr val="666666"/>
                </a:solidFill>
              </a:defRPr>
            </a:pPr>
            <a:r>
              <a:t>5. Testing &amp; Results (2 min)</a:t>
            </a:r>
          </a:p>
          <a:p>
            <a:pPr>
              <a:spcBef>
                <a:spcPts val="1200"/>
              </a:spcBef>
              <a:defRPr sz="2000">
                <a:solidFill>
                  <a:srgbClr val="666666"/>
                </a:solidFill>
              </a:defRPr>
            </a:pPr>
            <a:r>
              <a:t>6. Conclusion &amp; Future Work (2 min)</a:t>
            </a:r>
          </a:p>
          <a:p>
            <a:pPr>
              <a:spcBef>
                <a:spcPts val="1200"/>
              </a:spcBef>
              <a:defRPr sz="2000">
                <a:solidFill>
                  <a:srgbClr val="666666"/>
                </a:solidFill>
              </a:defRPr>
            </a:pPr>
            <a:r>
              <a:t>7. 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Problem 1: Fragmented Learning Experience</a:t>
            </a:r>
          </a:p>
          <a:p>
            <a:pPr lvl="1">
              <a:spcAft>
                <a:spcPts val="1000"/>
              </a:spcAft>
              <a:defRPr sz="1600">
                <a:solidFill>
                  <a:srgbClr val="666666"/>
                </a:solidFill>
              </a:defRPr>
            </a:pPr>
            <a:r>
              <a:t>Students juggle 5-6 different platforms for video lectures, assignments, discussions, quizzes, and certificates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Problem 2: Limited Instructor Tools</a:t>
            </a:r>
          </a:p>
          <a:p>
            <a:pPr lvl="1">
              <a:spcAft>
                <a:spcPts val="1000"/>
              </a:spcAft>
              <a:defRPr sz="1600">
                <a:solidFill>
                  <a:srgbClr val="666666"/>
                </a:solidFill>
              </a:defRPr>
            </a:pPr>
            <a:r>
              <a:t>Existing LMS platforms lack intuitive course creation, real-time analytics, and flexible content management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Problem 3: Low Engagement &amp; High Dropout</a:t>
            </a:r>
          </a:p>
          <a:p>
            <a:pPr lvl="1">
              <a:spcAft>
                <a:spcPts val="1000"/>
              </a:spcAft>
              <a:defRPr sz="1600">
                <a:solidFill>
                  <a:srgbClr val="666666"/>
                </a:solidFill>
              </a:defRPr>
            </a:pPr>
            <a:r>
              <a:t>Online courses suffer 85-90% dropout rates due to lack of interactive features and community support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000"/>
              </a:spcBef>
              <a:defRPr sz="1800">
                <a:solidFill>
                  <a:srgbClr val="666666"/>
                </a:solidFill>
              </a:defRPr>
            </a:pPr>
            <a:r>
              <a:t>✅ Investigation &amp; Requirements Analysis - 42 functional requirements identified</a:t>
            </a:r>
          </a:p>
          <a:p>
            <a:pPr>
              <a:spcBef>
                <a:spcPts val="1000"/>
              </a:spcBef>
              <a:defRPr sz="1800">
                <a:solidFill>
                  <a:srgbClr val="666666"/>
                </a:solidFill>
              </a:defRPr>
            </a:pPr>
            <a:r>
              <a:t>✅ System Design &amp; Architecture - MVC pattern, 9 database entities, 67 API endpoints</a:t>
            </a:r>
          </a:p>
          <a:p>
            <a:pPr>
              <a:spcBef>
                <a:spcPts val="1000"/>
              </a:spcBef>
              <a:defRPr sz="1800">
                <a:solidFill>
                  <a:srgbClr val="666666"/>
                </a:solidFill>
              </a:defRPr>
            </a:pPr>
            <a:r>
              <a:t>✅ Backend Implementation - Authentication, payment processing, real-time notifications</a:t>
            </a:r>
          </a:p>
          <a:p>
            <a:pPr>
              <a:spcBef>
                <a:spcPts val="1000"/>
              </a:spcBef>
              <a:defRPr sz="1800">
                <a:solidFill>
                  <a:srgbClr val="666666"/>
                </a:solidFill>
              </a:defRPr>
            </a:pPr>
            <a:r>
              <a:t>✅ Frontend Development - 18 responsive pages, dark mode, WCAG 2.1 AA compliance</a:t>
            </a:r>
          </a:p>
          <a:p>
            <a:pPr>
              <a:spcBef>
                <a:spcPts val="1000"/>
              </a:spcBef>
              <a:defRPr sz="1800">
                <a:solidFill>
                  <a:srgbClr val="666666"/>
                </a:solidFill>
              </a:defRPr>
            </a:pPr>
            <a:r>
              <a:t>✅ Testing &amp; QA - 85% code coverage, UAT with 25 participants</a:t>
            </a:r>
          </a:p>
          <a:p>
            <a:pPr>
              <a:spcBef>
                <a:spcPts val="1000"/>
              </a:spcBef>
              <a:defRPr sz="1800">
                <a:solidFill>
                  <a:srgbClr val="666666"/>
                </a:solidFill>
              </a:defRPr>
            </a:pPr>
            <a:r>
              <a:t>✅ Deployment &amp; DevOps - CI/CD pipeline, Vercel hosting, Firebase database</a:t>
            </a:r>
          </a:p>
          <a:p>
            <a:pPr>
              <a:spcBef>
                <a:spcPts val="1000"/>
              </a:spcBef>
              <a:defRPr sz="1800">
                <a:solidFill>
                  <a:srgbClr val="666666"/>
                </a:solidFill>
              </a:defRPr>
            </a:pPr>
            <a:r>
              <a:t>✅ Documentation - Technical docs, user manuals, API 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System Architecture - MVC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5603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>
                <a:solidFill>
                  <a:srgbClr val="FF7F00"/>
                </a:solidFill>
              </a:defRPr>
            </a:pPr>
            <a:r>
              <a:t>MODEL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User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Course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Lesson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Quiz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Question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Enrollment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Payment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Order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Certificate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371600"/>
            <a:ext cx="25603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>
                <a:solidFill>
                  <a:srgbClr val="FF7F00"/>
                </a:solidFill>
              </a:defRPr>
            </a:pPr>
            <a:r>
              <a:t>VIEW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Homepage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Courses Catalog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Course Details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Lesson Viewer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Quiz Interface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Student Dashboard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Teacher Dashboard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Admin Panel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Community Forum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Profile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371600"/>
            <a:ext cx="25603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>
                <a:solidFill>
                  <a:srgbClr val="FF7F00"/>
                </a:solidFill>
              </a:defRPr>
            </a:pPr>
            <a:r>
              <a:t>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authController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courseController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lessonController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quizController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paymentController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userController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communityController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gradeController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 b="1">
                <a:solidFill>
                  <a:srgbClr val="FF7F00"/>
                </a:solidFill>
              </a:defRPr>
            </a:pPr>
            <a:r>
              <a:t>BACKEND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Node.js v18.x - Runtime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Express.js v4.18 - Web Framework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Firebase Realtime DB - NoSQL Database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Passport.js - OAuth 2.0 Authentication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Stripe API v10 - Payment Processing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Cloudinary - Media Storage &amp; CDN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393192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 b="1">
                <a:solidFill>
                  <a:srgbClr val="FF7F00"/>
                </a:solidFill>
              </a:defRPr>
            </a:pPr>
            <a:r>
              <a:t>FRONTEND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EJS Templates - Server-side Rendering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CSS3 - Custom Variables &amp; Theming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Vanilla JavaScript ES6+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Responsive Design - Mobile-first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WCAG 2.1 AA - Accessibility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Dark Mode - Theme Switching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 b="1">
                <a:solidFill>
                  <a:srgbClr val="FF7F00"/>
                </a:solidFill>
              </a:defRPr>
            </a:pPr>
            <a:r>
              <a:t>SECURITY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HTTPS/TLS 1.3 - Encryption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bcrypt - Password Hashing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express-session - Session Management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csurf - CSRF Protection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express-validator - Input Sanitization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4114800"/>
            <a:ext cx="39319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 b="1">
                <a:solidFill>
                  <a:srgbClr val="FF7F00"/>
                </a:solidFill>
              </a:defRPr>
            </a:pPr>
            <a:r>
              <a:t>DEPLOYMENT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Vercel - Serverless Hosting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Firebase Cloud - Database Hosting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GitHub Actions - CI/CD Pipeline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Cloudinary CDN - Static Assets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Firebase Analytics - User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Key Features - Authentication &amp; 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🔐 Multi-Role Authentication System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Role-Based Access Control (RBAC) - Student, Teacher, Admin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Google OAuth 2.0 integration for single sign-on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Email/password authentication with bcrypt hashing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Session management with secure cookies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📚 Course Management System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Teachers create courses with rich text content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Video embedding (YouTube, Vimeo)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File uploads (PDFs, images) via Cloudinary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Course categorization and tagging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Pricing management ($0-$999)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Key Features - Assessment &amp; Payments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📝 Interactive Quiz Engine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Multiple question types (MCQ, True/False, Short Answer)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Timer functionality with server-side validation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Automatic grading for objective questions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Progress tracking and retry logic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Certificate generation upon passing (70% threshold)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💳 Stripe Payment Integration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Secure checkout sessions (PCI DSS compliant)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Webhook handling for payment confirmations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Order management and tracking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Automatic enrollment after successful payment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Refund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Key Features - Community &amp;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👥 Community Forum System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Group creation by teachers for study groups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Post management with rich text editor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Threaded comments for discussions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Content moderation by admins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Real-time updates using Firebase listeners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🌙 Dark Mode &amp; Accessibility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System preference detection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Manual toggle with persistent storage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WCAG 2.1 Level AA compliance (4.5:1 contrast ratio)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Keyboard navigation support</a:t>
            </a:r>
          </a:p>
          <a:p>
            <a:pPr lvl="1">
              <a:defRPr sz="1400">
                <a:solidFill>
                  <a:srgbClr val="666666"/>
                </a:solidFill>
              </a:defRPr>
            </a:pPr>
            <a:r>
              <a:t>• Screen reader compatibility (ARIA labels)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7F00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003366"/>
                </a:solidFill>
              </a:defRPr>
            </a:pPr>
            <a:r>
              <a:t>6 Minutes - Core Functionalities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1000"/>
              </a:spcBef>
              <a:defRPr sz="2000">
                <a:solidFill>
                  <a:srgbClr val="666666"/>
                </a:solidFill>
              </a:defRPr>
            </a:pPr>
            <a:r>
              <a:t>1. Student Journey: Registration → Enrollment → Payment → Quiz → Certificate</a:t>
            </a:r>
          </a:p>
          <a:p>
            <a:pPr algn="ctr">
              <a:spcBef>
                <a:spcPts val="1000"/>
              </a:spcBef>
              <a:defRPr sz="2000">
                <a:solidFill>
                  <a:srgbClr val="666666"/>
                </a:solidFill>
              </a:defRPr>
            </a:pPr>
            <a:r>
              <a:t>2. Teacher Dashboard: Course Creation &amp; Lesson Management</a:t>
            </a:r>
          </a:p>
          <a:p>
            <a:pPr algn="ctr">
              <a:spcBef>
                <a:spcPts val="1000"/>
              </a:spcBef>
              <a:defRPr sz="2000">
                <a:solidFill>
                  <a:srgbClr val="666666"/>
                </a:solidFill>
              </a:defRPr>
            </a:pPr>
            <a:r>
              <a:t>3. Admin Panel: User Management &amp; Platform Analytics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Database Schema - Firebase Realtime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👤 users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email, name, role, profilePhoto, createdAt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📚 courses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title, description, instructorId, price, thumbnail, category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📖 lessons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courseId, title, content, videoUrl, order, duration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❓ quizzes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courseId, title, duration, passingScore, totalQuestions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❔ questions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quizId, questionText, type, options, correctAnswer, points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📝 enrollments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userId, courseId, enrolledAt, progress, completed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📊 submissions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userId, quizId, answers, score, submittedAt, passed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💰 orders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userId, courseId, amount, status, stripeSessionId</a:t>
            </a:r>
          </a:p>
          <a:p>
            <a:pPr>
              <a:spcBef>
                <a:spcPts val="800"/>
              </a:spcBef>
              <a:defRPr sz="1800" b="1">
                <a:solidFill>
                  <a:srgbClr val="FF7F00"/>
                </a:solidFill>
              </a:defRPr>
            </a:pPr>
            <a:r>
              <a:t>🎓 certificates</a:t>
            </a:r>
          </a:p>
          <a:p>
            <a:pPr lvl="1">
              <a:defRPr sz="1300">
                <a:solidFill>
                  <a:srgbClr val="666666"/>
                </a:solidFill>
              </a:defRPr>
            </a:pPr>
            <a:r>
              <a:t>userId, courseId, issuedAt, verificationCode, pdfUrl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Testing &amp; 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✅ Unit Testing</a:t>
            </a:r>
          </a:p>
          <a:p>
            <a:pPr lvl="1">
              <a:defRPr sz="1600">
                <a:solidFill>
                  <a:srgbClr val="666666"/>
                </a:solidFill>
              </a:defRPr>
            </a:pPr>
            <a:r>
              <a:t>Mocha + Chai, 127 tests, 85% code coverage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✅ Integration Testing</a:t>
            </a:r>
          </a:p>
          <a:p>
            <a:pPr lvl="1">
              <a:defRPr sz="1600">
                <a:solidFill>
                  <a:srgbClr val="666666"/>
                </a:solidFill>
              </a:defRPr>
            </a:pPr>
            <a:r>
              <a:t>Postman collection, 67 API endpoint tests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✅ User Acceptance Testing</a:t>
            </a:r>
          </a:p>
          <a:p>
            <a:pPr lvl="1">
              <a:defRPr sz="1600">
                <a:solidFill>
                  <a:srgbClr val="666666"/>
                </a:solidFill>
              </a:defRPr>
            </a:pPr>
            <a:r>
              <a:t>25 participants, 92% task completion, SUS score: 78/100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✅ Performance Testing</a:t>
            </a:r>
          </a:p>
          <a:p>
            <a:pPr lvl="1">
              <a:defRPr sz="1600">
                <a:solidFill>
                  <a:srgbClr val="666666"/>
                </a:solidFill>
              </a:defRPr>
            </a:pPr>
            <a:r>
              <a:t>JMeter, 1,200 concurrent users, 320ms avg response</a:t>
            </a:r>
          </a:p>
          <a:p>
            <a:pPr>
              <a:spcBef>
                <a:spcPts val="1500"/>
              </a:spcBef>
              <a:defRPr sz="2200" b="1">
                <a:solidFill>
                  <a:srgbClr val="FF7F00"/>
                </a:solidFill>
              </a:defRPr>
            </a:pPr>
            <a:r>
              <a:t>✅ Security Testing</a:t>
            </a:r>
          </a:p>
          <a:p>
            <a:pPr lvl="1">
              <a:defRPr sz="1600">
                <a:solidFill>
                  <a:srgbClr val="666666"/>
                </a:solidFill>
              </a:defRPr>
            </a:pPr>
            <a:r>
              <a:t>OWASP ZAP, penetration testing, 0 critical vulnerabilities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Performance Metrics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645920"/>
                <a:gridCol w="1554480"/>
              </a:tblGrid>
              <a:tr h="6096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Achieved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Page Load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&lt; 3s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2.1s 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8000"/>
                          </a:solidFill>
                        </a:defRPr>
                      </a:pPr>
                      <a:r>
                        <a:t>✅ Pass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API Response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&lt; 500ms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320ms 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8000"/>
                          </a:solidFill>
                        </a:defRPr>
                      </a:pPr>
                      <a:r>
                        <a:t>✅ Pass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Concurrent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1,200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8000"/>
                          </a:solidFill>
                        </a:defRPr>
                      </a:pPr>
                      <a:r>
                        <a:t>✅ Pass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Database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&lt; 100ms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75ms 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8000"/>
                          </a:solidFill>
                        </a:defRPr>
                      </a:pPr>
                      <a:r>
                        <a:t>✅ Pass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System Uptime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666666"/>
                          </a:solidFill>
                        </a:defRPr>
                      </a:pPr>
                      <a:r>
                        <a:t>99.7%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8000"/>
                          </a:solidFill>
                        </a:defRPr>
                      </a:pPr>
                      <a:r>
                        <a:t>✅ Pass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Technical Challenges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200"/>
              </a:spcBef>
              <a:defRPr sz="1600" b="1">
                <a:solidFill>
                  <a:srgbClr val="FF7F00"/>
                </a:solidFill>
              </a:defRPr>
            </a:pPr>
            <a:r>
              <a:t>⚠️ Challenge: Stripe Webhook Race Condition</a:t>
            </a:r>
          </a:p>
          <a:p>
            <a:pPr lvl="1">
              <a:defRPr sz="1400">
                <a:solidFill>
                  <a:srgbClr val="008000"/>
                </a:solidFill>
              </a:defRPr>
            </a:pPr>
            <a:r>
              <a:t>✅ Solution: Implemented idempotency keys + client polling → 0% errors</a:t>
            </a:r>
          </a:p>
          <a:p>
            <a:pPr>
              <a:spcBef>
                <a:spcPts val="1200"/>
              </a:spcBef>
              <a:defRPr sz="1600" b="1">
                <a:solidFill>
                  <a:srgbClr val="FF7F00"/>
                </a:solidFill>
              </a:defRPr>
            </a:pPr>
            <a:r>
              <a:t>⚠️ Challenge: OAuth Redirect Loops</a:t>
            </a:r>
          </a:p>
          <a:p>
            <a:pPr lvl="1">
              <a:defRPr sz="1400">
                <a:solidFill>
                  <a:srgbClr val="008000"/>
                </a:solidFill>
              </a:defRPr>
            </a:pPr>
            <a:r>
              <a:t>✅ Solution: Configured separate dev/prod OAuth clients → Resolved</a:t>
            </a:r>
          </a:p>
          <a:p>
            <a:pPr>
              <a:spcBef>
                <a:spcPts val="1200"/>
              </a:spcBef>
              <a:defRPr sz="1600" b="1">
                <a:solidFill>
                  <a:srgbClr val="FF7F00"/>
                </a:solidFill>
              </a:defRPr>
            </a:pPr>
            <a:r>
              <a:t>⚠️ Challenge: Quiz Timer Drift</a:t>
            </a:r>
          </a:p>
          <a:p>
            <a:pPr lvl="1">
              <a:defRPr sz="1400">
                <a:solidFill>
                  <a:srgbClr val="008000"/>
                </a:solidFill>
              </a:defRPr>
            </a:pPr>
            <a:r>
              <a:t>✅ Solution: Server-side timestamp validation → Fair timing for all users</a:t>
            </a:r>
          </a:p>
          <a:p>
            <a:pPr>
              <a:spcBef>
                <a:spcPts val="1200"/>
              </a:spcBef>
              <a:defRPr sz="1600" b="1">
                <a:solidFill>
                  <a:srgbClr val="FF7F00"/>
                </a:solidFill>
              </a:defRPr>
            </a:pPr>
            <a:r>
              <a:t>⚠️ Challenge: Large Content Loading</a:t>
            </a:r>
          </a:p>
          <a:p>
            <a:pPr lvl="1">
              <a:defRPr sz="1400">
                <a:solidFill>
                  <a:srgbClr val="008000"/>
                </a:solidFill>
              </a:defRPr>
            </a:pPr>
            <a:r>
              <a:t>✅ Solution: Lazy loading + Intersection Observer → 2.1s page load</a:t>
            </a:r>
          </a:p>
          <a:p>
            <a:pPr>
              <a:spcBef>
                <a:spcPts val="1200"/>
              </a:spcBef>
              <a:defRPr sz="1600" b="1">
                <a:solidFill>
                  <a:srgbClr val="FF7F00"/>
                </a:solidFill>
              </a:defRPr>
            </a:pPr>
            <a:r>
              <a:t>⚠️ Challenge: Certificate Generation Performance</a:t>
            </a:r>
          </a:p>
          <a:p>
            <a:pPr lvl="1">
              <a:defRPr sz="1400">
                <a:solidFill>
                  <a:srgbClr val="008000"/>
                </a:solidFill>
              </a:defRPr>
            </a:pPr>
            <a:r>
              <a:t>✅ Solution: Background job queue with Redis → 95% ready in 30s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Project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7F00"/>
                </a:solidFill>
              </a:defRPr>
            </a:pPr>
            <a:r>
              <a:t>40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Development Time</a:t>
            </a:r>
          </a:p>
          <a:p>
            <a:r>
              <a:t>Jan - Nov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82880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7F00"/>
                </a:solidFill>
              </a:defRPr>
            </a:pPr>
            <a:r>
              <a:t>15,000+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560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Lines of Code</a:t>
            </a:r>
          </a:p>
          <a:p>
            <a:r>
              <a:t>Backend + 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7F00"/>
                </a:solidFill>
              </a:defRPr>
            </a:pPr>
            <a: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RESTful API</a:t>
            </a:r>
          </a:p>
          <a:p>
            <a:r>
              <a:t>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7F00"/>
                </a:solidFill>
              </a:defRPr>
            </a:pPr>
            <a: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Database</a:t>
            </a:r>
          </a:p>
          <a:p>
            <a:r>
              <a:t>Entities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411480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7F00"/>
                </a:solidFill>
              </a:defRPr>
            </a:pPr>
            <a: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846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EJS Templates</a:t>
            </a:r>
          </a:p>
          <a:p>
            <a:r>
              <a:t>(Pages)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7F00"/>
                </a:solidFill>
              </a:defRPr>
            </a:pPr>
            <a: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46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Test Coverage</a:t>
            </a:r>
          </a:p>
          <a:p>
            <a:r>
              <a:t>127 Unit Tests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Future Work &amp; Enhancements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FF7F00"/>
                </a:solidFill>
              </a:defRPr>
            </a:pPr>
            <a:r>
              <a:t>Phase 1 (3 months)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Live video classes with WebRTC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AI-powered course recommendations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Mobile apps (iOS + Android with React Native)</a:t>
            </a:r>
          </a:p>
          <a:p>
            <a:pPr>
              <a:spcBef>
                <a:spcPts val="1200"/>
              </a:spcBef>
              <a:defRPr sz="2000" b="1">
                <a:solidFill>
                  <a:srgbClr val="FF7F00"/>
                </a:solidFill>
              </a:defRPr>
            </a:pPr>
            <a:r>
              <a:t>Phase 2 (6-12 months)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Gamification system (badges, leaderboards)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Multi-language support (i18n)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Advanced analytics dashboard for instructors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Peer-to-peer study groups with video chat</a:t>
            </a:r>
          </a:p>
          <a:p>
            <a:pPr>
              <a:spcBef>
                <a:spcPts val="1200"/>
              </a:spcBef>
              <a:defRPr sz="2000" b="1">
                <a:solidFill>
                  <a:srgbClr val="FF7F00"/>
                </a:solidFill>
              </a:defRPr>
            </a:pPr>
            <a:r>
              <a:t>Phase 3 (Long-term)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Enterprise B2B platform for corporate training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Blockchain certificate verification</a:t>
            </a:r>
          </a:p>
          <a:p>
            <a:pPr lvl="1">
              <a:defRPr sz="1500">
                <a:solidFill>
                  <a:srgbClr val="666666"/>
                </a:solidFill>
              </a:defRPr>
            </a:pPr>
            <a:r>
              <a:t>• VR learning modules for immersive education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1200"/>
              </a:spcBef>
              <a:defRPr sz="1800">
                <a:solidFill>
                  <a:srgbClr val="666666"/>
                </a:solidFill>
              </a:defRPr>
            </a:pPr>
            <a:r>
              <a:t>✅ Successfully built full-stack LMS with 18 pages and 67 API endpoints</a:t>
            </a:r>
          </a:p>
          <a:p>
            <a:pPr>
              <a:spcBef>
                <a:spcPts val="1200"/>
              </a:spcBef>
              <a:defRPr sz="1800">
                <a:solidFill>
                  <a:srgbClr val="666666"/>
                </a:solidFill>
              </a:defRPr>
            </a:pPr>
            <a:r>
              <a:t>✅ Integrated 6 third-party services (Firebase, Stripe, OAuth, Cloudinary)</a:t>
            </a:r>
          </a:p>
          <a:p>
            <a:pPr>
              <a:spcBef>
                <a:spcPts val="1200"/>
              </a:spcBef>
              <a:defRPr sz="1800">
                <a:solidFill>
                  <a:srgbClr val="666666"/>
                </a:solidFill>
              </a:defRPr>
            </a:pPr>
            <a:r>
              <a:t>✅ Achieved 85% test coverage with comprehensive QA</a:t>
            </a:r>
          </a:p>
          <a:p>
            <a:pPr>
              <a:spcBef>
                <a:spcPts val="1200"/>
              </a:spcBef>
              <a:defRPr sz="1800">
                <a:solidFill>
                  <a:srgbClr val="666666"/>
                </a:solidFill>
              </a:defRPr>
            </a:pPr>
            <a:r>
              <a:t>✅ Deployed production-ready application on Vercel</a:t>
            </a:r>
          </a:p>
          <a:p>
            <a:pPr>
              <a:spcBef>
                <a:spcPts val="1200"/>
              </a:spcBef>
              <a:defRPr sz="1800">
                <a:solidFill>
                  <a:srgbClr val="666666"/>
                </a:solidFill>
              </a:defRPr>
            </a:pPr>
            <a:r>
              <a:t>✅ GDPR compliant, WCAG 2.1 AA accessible, PCI DSS secure</a:t>
            </a:r>
          </a:p>
          <a:p>
            <a:pPr>
              <a:spcBef>
                <a:spcPts val="1200"/>
              </a:spcBef>
              <a:defRPr sz="1800">
                <a:solidFill>
                  <a:srgbClr val="666666"/>
                </a:solidFill>
              </a:defRPr>
            </a:pPr>
            <a:r>
              <a:t>✅ Demonstrated proficiency in Node.js, Express, Firebase, and modern web development</a:t>
            </a:r>
          </a:p>
          <a:p>
            <a:pPr>
              <a:spcBef>
                <a:spcPts val="1200"/>
              </a:spcBef>
              <a:defRPr sz="1800">
                <a:solidFill>
                  <a:srgbClr val="666666"/>
                </a:solidFill>
              </a:defRPr>
            </a:pPr>
            <a:r>
              <a:t>✅ Applied Agile methodology with iterative development over 40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 i="1">
                <a:solidFill>
                  <a:srgbClr val="003366"/>
                </a:solidFill>
              </a:defRPr>
            </a:pPr>
            <a:r>
              <a:t>UniLearn bridges the gap between traditional LMS platforms and modern learner expectations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3366"/>
                </a:solidFill>
              </a:defRPr>
            </a:pPr>
            <a:r>
              <a:t>Questions &amp;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66666"/>
                </a:solidFill>
              </a:defRPr>
            </a:pPr>
            <a:r>
              <a:t>Thank you for your attention!</a:t>
            </a:r>
          </a:p>
          <a:p>
            <a:pPr algn="ctr">
              <a:defRPr sz="1800">
                <a:solidFill>
                  <a:srgbClr val="666666"/>
                </a:solidFill>
              </a:defRPr>
            </a:pPr>
          </a:p>
          <a:p>
            <a:pPr algn="ctr">
              <a:defRPr sz="1800">
                <a:solidFill>
                  <a:srgbClr val="666666"/>
                </a:solidFill>
              </a:defRPr>
            </a:pPr>
            <a:r>
              <a:t>[Your Email] | GitHub: github.com/givhvy/FINAL-PROJECT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